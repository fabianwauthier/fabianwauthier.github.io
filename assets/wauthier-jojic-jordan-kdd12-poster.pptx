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3600" cy="51206400"/>
  <p:notesSz cx="28343225" cy="463423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8700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-1920" y="3096"/>
      </p:cViewPr>
      <p:guideLst>
        <p:guide orient="horz" pos="16128"/>
        <p:guide pos="90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5" cy="360045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2282488" cy="2317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6054388" y="0"/>
            <a:ext cx="12282487" cy="23177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3234D16-C9E6-4E00-9F85-F9DD403E5C11}" type="datetime1">
              <a:rPr lang="en-US"/>
              <a:pPr>
                <a:defRPr/>
              </a:pPr>
              <a:t>9/11/2012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83700" y="3475038"/>
            <a:ext cx="9775825" cy="17378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833688" y="22012275"/>
            <a:ext cx="22675850" cy="20854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4016613"/>
            <a:ext cx="12282488" cy="2317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6054388" y="44016613"/>
            <a:ext cx="12282487" cy="23177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E09D7CF-CE8E-4959-A47A-157591E834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50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588" y="15906913"/>
            <a:ext cx="24482425" cy="1097627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21175" y="29017655"/>
            <a:ext cx="20161250" cy="13084691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D7EA3-ACC3-4CE0-B724-6006A6F5AFE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081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57976-95B4-4121-9BF7-40EDF493F26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3116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4888" y="32904506"/>
            <a:ext cx="24484012" cy="1017042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4888" y="21704193"/>
            <a:ext cx="24484012" cy="11200314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25496-FEF7-4C2D-94F4-D6610D44C4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3542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9864" y="11947119"/>
            <a:ext cx="12885737" cy="3379545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8000" y="11947119"/>
            <a:ext cx="12885738" cy="3379545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0DAA1-1F2D-460F-AE97-D2C9D8D9A5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7601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9864" y="11462565"/>
            <a:ext cx="12726987" cy="47760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9864" y="16238633"/>
            <a:ext cx="12726987" cy="295039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631988" y="11462565"/>
            <a:ext cx="12731750" cy="47760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631988" y="16238633"/>
            <a:ext cx="12731750" cy="295039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8A211-E17B-459C-9FD5-CA16E32CE84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968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BFB1E-D628-4F9B-A434-1103FC477A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860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E6EB0-3A3E-49AA-BB12-7771A92C26E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133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864" y="2038947"/>
            <a:ext cx="9475787" cy="86768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61726" y="2038947"/>
            <a:ext cx="16102013" cy="4370363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864" y="10715761"/>
            <a:ext cx="9475787" cy="3502681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D55CC5-509B-4F1A-BE09-77E9C64B61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6611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5151" y="35844828"/>
            <a:ext cx="17283113" cy="423072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45151" y="4574605"/>
            <a:ext cx="17283113" cy="307248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45151" y="40075556"/>
            <a:ext cx="17283113" cy="60108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6A80F-CFEB-42E6-A791-98F99D1233A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389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41E3E-3B67-4937-9433-91E2FE0B06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707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883564" y="2051105"/>
            <a:ext cx="6480175" cy="436914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39863" y="2051105"/>
            <a:ext cx="19291300" cy="4369147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24E63-83F4-4D67-BB54-F8131BC290B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8056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863" y="2051050"/>
            <a:ext cx="25923875" cy="853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40110" tIns="220055" rIns="440110" bIns="22005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863" y="11947525"/>
            <a:ext cx="25923875" cy="3379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40110" tIns="220055" rIns="440110" bIns="2200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  <a:endParaRPr lang="en-US" altLang="zh-TW" smtClean="0"/>
          </a:p>
          <a:p>
            <a:pPr lvl="1"/>
            <a:r>
              <a:rPr lang="zh-TW" altLang="en-US" smtClean="0"/>
              <a:t>第二層</a:t>
            </a:r>
            <a:endParaRPr lang="en-US" altLang="zh-TW" smtClean="0"/>
          </a:p>
          <a:p>
            <a:pPr lvl="2"/>
            <a:r>
              <a:rPr lang="zh-TW" altLang="en-US" smtClean="0"/>
              <a:t>第三層</a:t>
            </a:r>
            <a:endParaRPr lang="en-US" altLang="zh-TW" smtClean="0"/>
          </a:p>
          <a:p>
            <a:pPr lvl="3"/>
            <a:r>
              <a:rPr lang="zh-TW" altLang="en-US" smtClean="0"/>
              <a:t>第四層</a:t>
            </a:r>
            <a:endParaRPr lang="en-US" altLang="zh-TW" smtClean="0"/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863" y="46631225"/>
            <a:ext cx="6719887" cy="35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0110" tIns="220055" rIns="440110" bIns="220055" numCol="1" anchor="t" anchorCtr="0" compatLnSpc="1">
            <a:prstTxWarp prst="textNoShape">
              <a:avLst/>
            </a:prstTxWarp>
          </a:bodyPr>
          <a:lstStyle>
            <a:lvl1pPr>
              <a:defRPr sz="670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40913" y="46631225"/>
            <a:ext cx="9121775" cy="35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0110" tIns="220055" rIns="440110" bIns="220055" numCol="1" anchor="t" anchorCtr="0" compatLnSpc="1">
            <a:prstTxWarp prst="textNoShape">
              <a:avLst/>
            </a:prstTxWarp>
          </a:bodyPr>
          <a:lstStyle>
            <a:lvl1pPr algn="ctr">
              <a:defRPr sz="670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43850" y="46631225"/>
            <a:ext cx="6719888" cy="35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0110" tIns="220055" rIns="440110" bIns="220055" numCol="1" anchor="t" anchorCtr="0" compatLnSpc="1">
            <a:prstTxWarp prst="textNoShape">
              <a:avLst/>
            </a:prstTxWarp>
          </a:bodyPr>
          <a:lstStyle>
            <a:lvl1pPr algn="r">
              <a:defRPr sz="6700" smtClean="0"/>
            </a:lvl1pPr>
          </a:lstStyle>
          <a:p>
            <a:pPr>
              <a:defRPr/>
            </a:pPr>
            <a:fld id="{CD8BBDB0-63A3-426F-BD7C-B8193EA009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00550" rtl="0" eaLnBrk="0" fontAlgn="base" hangingPunct="0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400550" rtl="0" eaLnBrk="0" fontAlgn="base" hangingPunct="0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Arial" charset="0"/>
          <a:ea typeface="新細明體" charset="-120"/>
          <a:cs typeface="新細明體" charset="-120"/>
        </a:defRPr>
      </a:lvl2pPr>
      <a:lvl3pPr algn="ctr" defTabSz="4400550" rtl="0" eaLnBrk="0" fontAlgn="base" hangingPunct="0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Arial" charset="0"/>
          <a:ea typeface="新細明體" charset="-120"/>
          <a:cs typeface="新細明體" charset="-120"/>
        </a:defRPr>
      </a:lvl3pPr>
      <a:lvl4pPr algn="ctr" defTabSz="4400550" rtl="0" eaLnBrk="0" fontAlgn="base" hangingPunct="0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Arial" charset="0"/>
          <a:ea typeface="新細明體" charset="-120"/>
          <a:cs typeface="新細明體" charset="-120"/>
        </a:defRPr>
      </a:lvl4pPr>
      <a:lvl5pPr algn="ctr" defTabSz="4400550" rtl="0" eaLnBrk="0" fontAlgn="base" hangingPunct="0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Arial" charset="0"/>
          <a:ea typeface="新細明體" charset="-120"/>
          <a:cs typeface="新細明體" charset="-120"/>
        </a:defRPr>
      </a:lvl5pPr>
      <a:lvl6pPr marL="457200" algn="ctr" defTabSz="4400550" rtl="0" fontAlgn="base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Arial" charset="0"/>
          <a:ea typeface="新細明體" charset="-120"/>
          <a:cs typeface="新細明體" charset="-120"/>
        </a:defRPr>
      </a:lvl6pPr>
      <a:lvl7pPr marL="914400" algn="ctr" defTabSz="4400550" rtl="0" fontAlgn="base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Arial" charset="0"/>
          <a:ea typeface="新細明體" charset="-120"/>
          <a:cs typeface="新細明體" charset="-120"/>
        </a:defRPr>
      </a:lvl7pPr>
      <a:lvl8pPr marL="1371600" algn="ctr" defTabSz="4400550" rtl="0" fontAlgn="base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Arial" charset="0"/>
          <a:ea typeface="新細明體" charset="-120"/>
          <a:cs typeface="新細明體" charset="-120"/>
        </a:defRPr>
      </a:lvl8pPr>
      <a:lvl9pPr marL="1828800" algn="ctr" defTabSz="4400550" rtl="0" fontAlgn="base">
        <a:spcBef>
          <a:spcPct val="0"/>
        </a:spcBef>
        <a:spcAft>
          <a:spcPct val="0"/>
        </a:spcAft>
        <a:defRPr kumimoji="1" sz="21200">
          <a:solidFill>
            <a:schemeClr val="tx2"/>
          </a:solidFill>
          <a:latin typeface="Arial" charset="0"/>
          <a:ea typeface="新細明體" charset="-120"/>
          <a:cs typeface="新細明體" charset="-120"/>
        </a:defRPr>
      </a:lvl9pPr>
    </p:titleStyle>
    <p:bodyStyle>
      <a:lvl1pPr marL="1651000" indent="-1651000" algn="l" defTabSz="4400550" rtl="0" eaLnBrk="0" fontAlgn="base" hangingPunct="0">
        <a:spcBef>
          <a:spcPct val="20000"/>
        </a:spcBef>
        <a:spcAft>
          <a:spcPct val="0"/>
        </a:spcAft>
        <a:buChar char="•"/>
        <a:defRPr kumimoji="1" sz="15400">
          <a:solidFill>
            <a:schemeClr val="tx1"/>
          </a:solidFill>
          <a:latin typeface="+mn-lt"/>
          <a:ea typeface="+mn-ea"/>
          <a:cs typeface="+mn-cs"/>
        </a:defRPr>
      </a:lvl1pPr>
      <a:lvl2pPr marL="3576638" indent="-1376363" algn="l" defTabSz="4400550" rtl="0" eaLnBrk="0" fontAlgn="base" hangingPunct="0">
        <a:spcBef>
          <a:spcPct val="20000"/>
        </a:spcBef>
        <a:spcAft>
          <a:spcPct val="0"/>
        </a:spcAft>
        <a:buChar char="–"/>
        <a:defRPr kumimoji="1" sz="13500">
          <a:solidFill>
            <a:schemeClr val="tx1"/>
          </a:solidFill>
          <a:latin typeface="+mn-lt"/>
          <a:ea typeface="+mn-ea"/>
          <a:cs typeface="+mn-cs"/>
        </a:defRPr>
      </a:lvl2pPr>
      <a:lvl3pPr marL="5500688" indent="-1100138" algn="l" defTabSz="4400550" rtl="0" eaLnBrk="0" fontAlgn="base" hangingPunct="0">
        <a:spcBef>
          <a:spcPct val="20000"/>
        </a:spcBef>
        <a:spcAft>
          <a:spcPct val="0"/>
        </a:spcAft>
        <a:buChar char="•"/>
        <a:defRPr kumimoji="1" sz="11600">
          <a:solidFill>
            <a:schemeClr val="tx1"/>
          </a:solidFill>
          <a:latin typeface="+mn-lt"/>
          <a:ea typeface="+mn-ea"/>
          <a:cs typeface="+mn-cs"/>
        </a:defRPr>
      </a:lvl3pPr>
      <a:lvl4pPr marL="7702550" indent="-1100138" algn="l" defTabSz="4400550" rtl="0" eaLnBrk="0" fontAlgn="base" hangingPunct="0">
        <a:spcBef>
          <a:spcPct val="20000"/>
        </a:spcBef>
        <a:spcAft>
          <a:spcPct val="0"/>
        </a:spcAft>
        <a:buChar char="–"/>
        <a:defRPr kumimoji="1" sz="9600">
          <a:solidFill>
            <a:schemeClr val="tx1"/>
          </a:solidFill>
          <a:latin typeface="+mn-lt"/>
          <a:ea typeface="+mn-ea"/>
          <a:cs typeface="+mn-cs"/>
        </a:defRPr>
      </a:lvl4pPr>
      <a:lvl5pPr marL="9902825" indent="-1100138" algn="l" defTabSz="4400550" rtl="0" eaLnBrk="0" fontAlgn="base" hangingPunct="0">
        <a:spcBef>
          <a:spcPct val="20000"/>
        </a:spcBef>
        <a:spcAft>
          <a:spcPct val="0"/>
        </a:spcAft>
        <a:buChar char="»"/>
        <a:defRPr kumimoji="1" sz="9600">
          <a:solidFill>
            <a:schemeClr val="tx1"/>
          </a:solidFill>
          <a:latin typeface="+mn-lt"/>
          <a:ea typeface="+mn-ea"/>
          <a:cs typeface="+mn-cs"/>
        </a:defRPr>
      </a:lvl5pPr>
      <a:lvl6pPr marL="10360025" indent="-1100138" algn="l" defTabSz="4400550" rtl="0" fontAlgn="base">
        <a:spcBef>
          <a:spcPct val="20000"/>
        </a:spcBef>
        <a:spcAft>
          <a:spcPct val="0"/>
        </a:spcAft>
        <a:buChar char="»"/>
        <a:defRPr kumimoji="1" sz="9600">
          <a:solidFill>
            <a:schemeClr val="tx1"/>
          </a:solidFill>
          <a:latin typeface="+mn-lt"/>
          <a:ea typeface="+mn-ea"/>
          <a:cs typeface="+mn-cs"/>
        </a:defRPr>
      </a:lvl6pPr>
      <a:lvl7pPr marL="10817225" indent="-1100138" algn="l" defTabSz="4400550" rtl="0" fontAlgn="base">
        <a:spcBef>
          <a:spcPct val="20000"/>
        </a:spcBef>
        <a:spcAft>
          <a:spcPct val="0"/>
        </a:spcAft>
        <a:buChar char="»"/>
        <a:defRPr kumimoji="1" sz="9600">
          <a:solidFill>
            <a:schemeClr val="tx1"/>
          </a:solidFill>
          <a:latin typeface="+mn-lt"/>
          <a:ea typeface="+mn-ea"/>
          <a:cs typeface="+mn-cs"/>
        </a:defRPr>
      </a:lvl7pPr>
      <a:lvl8pPr marL="11274425" indent="-1100138" algn="l" defTabSz="4400550" rtl="0" fontAlgn="base">
        <a:spcBef>
          <a:spcPct val="20000"/>
        </a:spcBef>
        <a:spcAft>
          <a:spcPct val="0"/>
        </a:spcAft>
        <a:buChar char="»"/>
        <a:defRPr kumimoji="1" sz="9600">
          <a:solidFill>
            <a:schemeClr val="tx1"/>
          </a:solidFill>
          <a:latin typeface="+mn-lt"/>
          <a:ea typeface="+mn-ea"/>
          <a:cs typeface="+mn-cs"/>
        </a:defRPr>
      </a:lvl8pPr>
      <a:lvl9pPr marL="11731625" indent="-1100138" algn="l" defTabSz="4400550" rtl="0" fontAlgn="base">
        <a:spcBef>
          <a:spcPct val="20000"/>
        </a:spcBef>
        <a:spcAft>
          <a:spcPct val="0"/>
        </a:spcAft>
        <a:buChar char="»"/>
        <a:defRPr kumimoji="1" sz="9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wmf"/><Relationship Id="rId5" Type="http://schemas.openxmlformats.org/officeDocument/2006/relationships/image" Target="../media/image4.jpeg"/><Relationship Id="rId10" Type="http://schemas.openxmlformats.org/officeDocument/2006/relationships/image" Target="../media/image8.wmf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1975" y="3436938"/>
            <a:ext cx="25981025" cy="3930650"/>
          </a:xfrm>
          <a:noFill/>
        </p:spPr>
        <p:txBody>
          <a:bodyPr lIns="0" tIns="0" rIns="0" bIns="0"/>
          <a:lstStyle/>
          <a:p>
            <a:pPr eaLnBrk="1" hangingPunct="1"/>
            <a:r>
              <a:rPr lang="en-US" altLang="zh-TW" sz="8000" b="1" dirty="0" smtClean="0">
                <a:solidFill>
                  <a:srgbClr val="FF0505"/>
                </a:solidFill>
              </a:rPr>
              <a:t>Active Spectral Clustering via </a:t>
            </a:r>
            <a:br>
              <a:rPr lang="en-US" altLang="zh-TW" sz="8000" b="1" dirty="0" smtClean="0">
                <a:solidFill>
                  <a:srgbClr val="FF0505"/>
                </a:solidFill>
              </a:rPr>
            </a:br>
            <a:r>
              <a:rPr lang="en-US" altLang="zh-TW" sz="8000" b="1" dirty="0" smtClean="0">
                <a:solidFill>
                  <a:srgbClr val="FF0505"/>
                </a:solidFill>
              </a:rPr>
              <a:t>Iterative Uncertainty Reduction</a:t>
            </a:r>
          </a:p>
        </p:txBody>
      </p:sp>
      <p:sp>
        <p:nvSpPr>
          <p:cNvPr id="2053" name="Text Box 21"/>
          <p:cNvSpPr txBox="1">
            <a:spLocks noChangeArrowheads="1"/>
          </p:cNvSpPr>
          <p:nvPr/>
        </p:nvSpPr>
        <p:spPr bwMode="auto">
          <a:xfrm>
            <a:off x="14444663" y="15644019"/>
            <a:ext cx="1231423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440055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defTabSz="440055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defTabSz="440055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defTabSz="440055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defTabSz="440055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defTabSz="440055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defTabSz="440055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defTabSz="440055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defTabSz="440055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3200" dirty="0"/>
              <a:t>Sample images </a:t>
            </a:r>
            <a:r>
              <a:rPr lang="en-US" altLang="zh-TW" sz="3200" dirty="0" smtClean="0"/>
              <a:t>in </a:t>
            </a:r>
            <a:r>
              <a:rPr lang="en-US" altLang="zh-TW" sz="3200" dirty="0"/>
              <a:t>an open kitchen and </a:t>
            </a:r>
            <a:r>
              <a:rPr lang="en-US" altLang="zh-TW" sz="3200" dirty="0" smtClean="0"/>
              <a:t>adjacent living </a:t>
            </a:r>
            <a:r>
              <a:rPr lang="en-US" altLang="zh-TW" sz="3200" dirty="0"/>
              <a:t>room.</a:t>
            </a:r>
          </a:p>
        </p:txBody>
      </p:sp>
      <p:sp>
        <p:nvSpPr>
          <p:cNvPr id="2054" name="Rectangle 23"/>
          <p:cNvSpPr>
            <a:spLocks noChangeArrowheads="1"/>
          </p:cNvSpPr>
          <p:nvPr/>
        </p:nvSpPr>
        <p:spPr bwMode="auto">
          <a:xfrm>
            <a:off x="9523413" y="7734300"/>
            <a:ext cx="8208962" cy="669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4400550">
              <a:spcBef>
                <a:spcPct val="20000"/>
              </a:spcBef>
            </a:pPr>
            <a:endParaRPr lang="en-US" altLang="zh-TW" sz="4400"/>
          </a:p>
        </p:txBody>
      </p:sp>
      <p:sp>
        <p:nvSpPr>
          <p:cNvPr id="2056" name="Rectangle 15"/>
          <p:cNvSpPr>
            <a:spLocks noChangeArrowheads="1"/>
          </p:cNvSpPr>
          <p:nvPr/>
        </p:nvSpPr>
        <p:spPr bwMode="auto">
          <a:xfrm>
            <a:off x="13896975" y="33693100"/>
            <a:ext cx="12384088" cy="828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defTabSz="4400550">
              <a:spcBef>
                <a:spcPct val="20000"/>
              </a:spcBef>
            </a:pPr>
            <a:r>
              <a:rPr lang="en-US" altLang="zh-TW" sz="6000" b="1">
                <a:solidFill>
                  <a:schemeClr val="bg1"/>
                </a:solidFill>
              </a:rPr>
              <a:t>For Images, </a:t>
            </a:r>
          </a:p>
          <a:p>
            <a:pPr algn="ctr" defTabSz="4400550">
              <a:spcBef>
                <a:spcPct val="20000"/>
              </a:spcBef>
            </a:pPr>
            <a:r>
              <a:rPr lang="en-US" altLang="zh-TW" sz="6000" b="1">
                <a:solidFill>
                  <a:schemeClr val="bg1"/>
                </a:solidFill>
              </a:rPr>
              <a:t>it should be at least 150dpi, </a:t>
            </a:r>
          </a:p>
          <a:p>
            <a:pPr algn="ctr" defTabSz="4400550">
              <a:spcBef>
                <a:spcPct val="20000"/>
              </a:spcBef>
            </a:pPr>
            <a:r>
              <a:rPr lang="en-US" altLang="zh-TW" sz="6000" b="1">
                <a:solidFill>
                  <a:schemeClr val="bg1"/>
                </a:solidFill>
              </a:rPr>
              <a:t>i.e. for 35cm width image,</a:t>
            </a:r>
          </a:p>
          <a:p>
            <a:pPr algn="ctr" defTabSz="4400550">
              <a:spcBef>
                <a:spcPct val="20000"/>
              </a:spcBef>
            </a:pPr>
            <a:r>
              <a:rPr lang="en-US" altLang="zh-TW" sz="6000" b="1">
                <a:solidFill>
                  <a:schemeClr val="bg1"/>
                </a:solidFill>
              </a:rPr>
              <a:t>The width is about 2067 pixels</a:t>
            </a:r>
            <a:endParaRPr lang="en-US" altLang="zh-TW" sz="6000">
              <a:solidFill>
                <a:schemeClr val="bg1"/>
              </a:solidFill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190625" y="7205663"/>
          <a:ext cx="24892000" cy="2957536"/>
        </p:xfrm>
        <a:graphic>
          <a:graphicData uri="http://schemas.openxmlformats.org/drawingml/2006/table">
            <a:tbl>
              <a:tblPr/>
              <a:tblGrid>
                <a:gridCol w="8297863"/>
                <a:gridCol w="8296275"/>
                <a:gridCol w="8297862"/>
              </a:tblGrid>
              <a:tr h="2957512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4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Fabian L. Wauthier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3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3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UC Berkeley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3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flw@cs.berkeley.edu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T="50018" marB="500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00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4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Nebojsa Jojic</a:t>
                      </a:r>
                    </a:p>
                    <a:p>
                      <a:pPr marL="0" marR="0" lvl="0" indent="0" algn="ctr" defTabSz="4400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  <a:p>
                      <a:pPr marL="0" marR="0" lvl="0" indent="0" algn="ctr" defTabSz="440055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3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Microsoft Research</a:t>
                      </a:r>
                    </a:p>
                    <a:p>
                      <a:pPr marL="0" marR="0" lvl="0" indent="0" algn="ctr" defTabSz="440055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3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jojic@microsoft.com</a:t>
                      </a:r>
                    </a:p>
                    <a:p>
                      <a:pPr marL="0" marR="0" lvl="0" indent="0" algn="ctr" defTabSz="4400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3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T="50018" marB="500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00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4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Michael I. Jordan</a:t>
                      </a:r>
                    </a:p>
                    <a:p>
                      <a:pPr marL="0" marR="0" lvl="0" indent="0" algn="ctr" defTabSz="4400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  <a:p>
                      <a:pPr marL="0" marR="0" lvl="0" indent="0" algn="ctr" defTabSz="440055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3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UC Berkeley</a:t>
                      </a:r>
                    </a:p>
                    <a:p>
                      <a:pPr marL="0" marR="0" lvl="0" indent="0" algn="ctr" defTabSz="440055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3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charset="-120"/>
                        </a:rPr>
                        <a:t>jordan@cs.berkeley.edu</a:t>
                      </a:r>
                    </a:p>
                    <a:p>
                      <a:pPr marL="0" marR="0" lvl="0" indent="0" algn="ctr" defTabSz="440055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charset="-120"/>
                      </a:endParaRPr>
                    </a:p>
                  </a:txBody>
                  <a:tcPr marT="50018" marB="500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067" name="Picture 19" descr="kdd_2012_banne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36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2" name="TextBox 8"/>
          <p:cNvSpPr txBox="1">
            <a:spLocks noChangeArrowheads="1"/>
          </p:cNvSpPr>
          <p:nvPr/>
        </p:nvSpPr>
        <p:spPr bwMode="auto">
          <a:xfrm>
            <a:off x="14616113" y="11650663"/>
            <a:ext cx="1164907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sz="5000" b="1" dirty="0"/>
              <a:t>Image Clustering</a:t>
            </a:r>
          </a:p>
        </p:txBody>
      </p:sp>
      <p:pic>
        <p:nvPicPr>
          <p:cNvPr id="2073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6113" y="1298575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" name="Footer Placeholder 23"/>
          <p:cNvSpPr>
            <a:spLocks noGrp="1"/>
          </p:cNvSpPr>
          <p:nvPr>
            <p:ph type="ftr" sz="quarter" idx="11"/>
          </p:nvPr>
        </p:nvSpPr>
        <p:spPr>
          <a:xfrm>
            <a:off x="9840913" y="49479200"/>
            <a:ext cx="9121775" cy="1063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4000" b="1" dirty="0" smtClean="0"/>
              <a:t>Paper ID: 607</a:t>
            </a:r>
          </a:p>
        </p:txBody>
      </p:sp>
      <p:pic>
        <p:nvPicPr>
          <p:cNvPr id="2074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7960" y="1299788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5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3235" y="12985750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4401799" y="16459200"/>
            <a:ext cx="1338421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itchFamily="34" charset="0"/>
              <a:buChar char="•"/>
              <a:defRPr/>
            </a:pPr>
            <a:r>
              <a:rPr lang="en-US" sz="4000" dirty="0"/>
              <a:t>Task: </a:t>
            </a:r>
            <a:r>
              <a:rPr lang="en-US" sz="4000" dirty="0" smtClean="0"/>
              <a:t>Cluster </a:t>
            </a:r>
            <a:r>
              <a:rPr lang="en-US" sz="4000" dirty="0"/>
              <a:t>images </a:t>
            </a:r>
            <a:r>
              <a:rPr lang="en-US" sz="4000" dirty="0" smtClean="0"/>
              <a:t>taken in an open kitchen/living </a:t>
            </a:r>
            <a:r>
              <a:rPr lang="en-US" sz="4000" dirty="0"/>
              <a:t>room (see above) into </a:t>
            </a:r>
            <a:r>
              <a:rPr lang="en-US" sz="4000" dirty="0" smtClean="0"/>
              <a:t>their location.</a:t>
            </a:r>
            <a:endParaRPr lang="en-US" sz="4000" dirty="0"/>
          </a:p>
          <a:p>
            <a:pPr marL="571500" indent="-571500" algn="just">
              <a:buFont typeface="Arial" pitchFamily="34" charset="0"/>
              <a:buChar char="•"/>
              <a:defRPr/>
            </a:pPr>
            <a:r>
              <a:rPr lang="en-US" sz="4000" dirty="0" smtClean="0"/>
              <a:t>Unconstrained images; </a:t>
            </a:r>
            <a:r>
              <a:rPr lang="en-US" sz="4000" dirty="0"/>
              <a:t>very hard for computer vision.</a:t>
            </a:r>
          </a:p>
          <a:p>
            <a:pPr marL="571500" indent="-571500" algn="just">
              <a:buFont typeface="Arial" pitchFamily="34" charset="0"/>
              <a:buChar char="•"/>
              <a:defRPr/>
            </a:pPr>
            <a:r>
              <a:rPr lang="en-US" sz="4000" dirty="0"/>
              <a:t>Collect similarities using HITs on Mechanical Turk: Query: </a:t>
            </a:r>
            <a:r>
              <a:rPr lang="en-US" sz="4000" b="1" dirty="0"/>
              <a:t>“How likely is it that two photos were taken in the same room?”</a:t>
            </a:r>
          </a:p>
          <a:p>
            <a:pPr marL="571500" indent="-571500" algn="just">
              <a:buFont typeface="Arial" pitchFamily="34" charset="0"/>
              <a:buChar char="•"/>
              <a:defRPr/>
            </a:pPr>
            <a:r>
              <a:rPr lang="en-US" sz="4000" dirty="0" smtClean="0"/>
              <a:t>Use</a:t>
            </a:r>
            <a:r>
              <a:rPr lang="en-US" sz="4000" dirty="0"/>
              <a:t> </a:t>
            </a:r>
            <a:r>
              <a:rPr lang="en-US" sz="4000" dirty="0" smtClean="0"/>
              <a:t>median response of </a:t>
            </a:r>
            <a:r>
              <a:rPr lang="en-US" sz="4000" dirty="0"/>
              <a:t>three workers</a:t>
            </a:r>
            <a:r>
              <a:rPr lang="en-US" sz="4000" dirty="0" smtClean="0"/>
              <a:t> as similarity.</a:t>
            </a:r>
            <a:endParaRPr lang="en-US" sz="4000" dirty="0"/>
          </a:p>
          <a:p>
            <a:pPr algn="just">
              <a:defRPr/>
            </a:pPr>
            <a:endParaRPr lang="en-US" sz="4000" dirty="0"/>
          </a:p>
        </p:txBody>
      </p:sp>
      <p:sp>
        <p:nvSpPr>
          <p:cNvPr id="2078" name="TextBox 17"/>
          <p:cNvSpPr txBox="1">
            <a:spLocks noChangeArrowheads="1"/>
          </p:cNvSpPr>
          <p:nvPr/>
        </p:nvSpPr>
        <p:spPr bwMode="auto">
          <a:xfrm>
            <a:off x="14616113" y="37121218"/>
            <a:ext cx="13438188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7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lang="en-US" sz="5000" b="1" dirty="0"/>
              <a:t>Image Clustering with Noisy Similarities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38200" y="11714050"/>
                <a:ext cx="12789694" cy="3764569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sz="4000" dirty="0" smtClean="0"/>
              </a:p>
              <a:p>
                <a:endParaRPr lang="en-US" sz="4000" dirty="0"/>
              </a:p>
              <a:p>
                <a:endParaRPr lang="en-US" sz="4000" dirty="0" smtClean="0"/>
              </a:p>
              <a:p>
                <a:endParaRPr lang="en-US" sz="4000" dirty="0"/>
              </a:p>
              <a:p>
                <a:endParaRPr lang="en-US" sz="4000" dirty="0" smtClean="0"/>
              </a:p>
              <a:p>
                <a:endParaRPr lang="en-US" sz="4000" dirty="0"/>
              </a:p>
              <a:p>
                <a:endParaRPr lang="en-US" sz="4000" dirty="0" smtClean="0"/>
              </a:p>
              <a:p>
                <a:endParaRPr lang="en-US" sz="4000" dirty="0"/>
              </a:p>
              <a:p>
                <a:endParaRPr lang="en-US" sz="4000" dirty="0" smtClean="0"/>
              </a:p>
              <a:p>
                <a:endParaRPr lang="en-US" sz="4000" dirty="0"/>
              </a:p>
              <a:p>
                <a:endParaRPr lang="en-US" sz="4000" dirty="0"/>
              </a:p>
              <a:p>
                <a:endParaRPr lang="en-US" sz="4000" dirty="0" smtClean="0"/>
              </a:p>
              <a:p>
                <a:r>
                  <a:rPr lang="en-US" sz="5000" b="1" dirty="0" smtClean="0"/>
                  <a:t>Spectral clustering</a:t>
                </a:r>
              </a:p>
              <a:p>
                <a:endParaRPr lang="en-US" sz="200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</a:rPr>
                      <m:t>𝑊</m:t>
                    </m:r>
                    <m:r>
                      <a:rPr lang="en-US" sz="4000" b="0" i="1" smtClean="0">
                        <a:latin typeface="Cambria Math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000" dirty="0" smtClean="0"/>
                  <a:t> be a matrix of pairwise similarities. Define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</a:rPr>
                      <m:t>𝐿</m:t>
                    </m:r>
                    <m:r>
                      <a:rPr lang="en-US" sz="40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4000" b="0" i="0" smtClean="0">
                        <a:latin typeface="Cambria Math"/>
                      </a:rPr>
                      <m:t>diag</m:t>
                    </m:r>
                    <m:d>
                      <m:d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/>
                          </a:rPr>
                          <m:t>𝑊</m:t>
                        </m:r>
                        <m:r>
                          <a:rPr lang="en-US" sz="4000" b="1" i="0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4000" b="0" i="1" smtClean="0">
                        <a:latin typeface="Cambria Math"/>
                      </a:rPr>
                      <m:t>−</m:t>
                    </m:r>
                    <m:r>
                      <a:rPr lang="en-US" sz="4000" b="0" i="1" smtClean="0">
                        <a:latin typeface="Cambria Math"/>
                      </a:rPr>
                      <m:t>𝑊</m:t>
                    </m:r>
                  </m:oMath>
                </a14:m>
                <a:r>
                  <a:rPr lang="en-US" sz="4000" dirty="0" smtClean="0"/>
                  <a:t>. </a:t>
                </a:r>
                <a:r>
                  <a:rPr lang="en-US" sz="4000" dirty="0"/>
                  <a:t>F</a:t>
                </a:r>
                <a:r>
                  <a:rPr lang="en-US" sz="4000" dirty="0" smtClean="0"/>
                  <a:t>ind the embedding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40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endParaRPr lang="en-US" sz="4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/>
                            </a:rPr>
                            <m:t>𝑣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40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/>
                        </a:rPr>
                        <m:t>argmi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/>
                            </a:rPr>
                            <m:t>𝑣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4000" b="0" i="1" smtClean="0">
                          <a:latin typeface="Cambria Math"/>
                        </a:rPr>
                        <m:t>𝐿</m:t>
                      </m:r>
                      <m:r>
                        <a:rPr lang="en-US" sz="4000" b="0" i="1" smtClean="0">
                          <a:latin typeface="Cambria Math"/>
                        </a:rPr>
                        <m:t> </m:t>
                      </m:r>
                      <m:r>
                        <a:rPr lang="en-US" sz="4000" b="0" i="1" smtClean="0">
                          <a:latin typeface="Cambria Math"/>
                        </a:rPr>
                        <m:t>𝑣</m:t>
                      </m:r>
                      <m:r>
                        <a:rPr lang="en-US" sz="40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/>
                        </a:rPr>
                        <m:t>argmi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40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4000" b="0" i="1" smtClean="0">
                              <a:latin typeface="Cambria Math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4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4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𝑣</m:t>
                                  </m:r>
                                  <m:d>
                                    <m:d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𝑣</m:t>
                                  </m:r>
                                  <m:d>
                                    <m:d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4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4000" b="0" dirty="0" smtClean="0"/>
              </a:p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</a:rPr>
                      <m:t>                </m:t>
                    </m:r>
                    <m:r>
                      <m:rPr>
                        <m:sty m:val="p"/>
                      </m:rPr>
                      <a:rPr lang="en-US" sz="4000" b="0" i="0" smtClean="0">
                        <a:latin typeface="Cambria Math"/>
                      </a:rPr>
                      <m:t>s</m:t>
                    </m:r>
                    <m:r>
                      <a:rPr lang="en-US" sz="4000" b="0" i="0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4000" b="0" i="0" smtClean="0">
                        <a:latin typeface="Cambria Math"/>
                      </a:rPr>
                      <m:t>t</m:t>
                    </m:r>
                    <m:r>
                      <a:rPr lang="en-US" sz="4000" b="0" i="0" smtClean="0">
                        <a:latin typeface="Cambria Math"/>
                      </a:rPr>
                      <m:t>. </m:t>
                    </m:r>
                    <m:sSup>
                      <m:sSup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40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4000" b="0" i="1" smtClean="0">
                        <a:latin typeface="Cambria Math"/>
                      </a:rPr>
                      <m:t>𝑣</m:t>
                    </m:r>
                    <m:r>
                      <a:rPr lang="en-US" sz="4000" b="0" i="1" smtClean="0">
                        <a:latin typeface="Cambria Math"/>
                      </a:rPr>
                      <m:t>=1, </m:t>
                    </m:r>
                    <m:sSup>
                      <m:sSup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40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4000" b="1" i="0" smtClean="0">
                        <a:latin typeface="Cambria Math"/>
                      </a:rPr>
                      <m:t>𝟏</m:t>
                    </m:r>
                    <m:r>
                      <a:rPr lang="en-US" sz="40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4000" b="0" dirty="0" smtClean="0"/>
                  <a:t>.</a:t>
                </a:r>
              </a:p>
              <a:p>
                <a:endParaRPr lang="en-US" sz="2000" b="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Cluster by </a:t>
                </a:r>
                <a:r>
                  <a:rPr lang="en-US" sz="4000" dirty="0" err="1" smtClean="0"/>
                  <a:t>thresholding</a:t>
                </a:r>
                <a:r>
                  <a:rPr lang="en-US" sz="40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40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4000" dirty="0" smtClean="0"/>
                  <a:t> at 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4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40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4000" b="0" i="0" smtClean="0">
                        <a:latin typeface="Cambria Math"/>
                      </a:rPr>
                      <m:t>sign</m:t>
                    </m:r>
                    <m:d>
                      <m:d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4000" b="0" i="1" smtClean="0">
                        <a:latin typeface="Cambria Math"/>
                      </a:rPr>
                      <m:t>.</m:t>
                    </m:r>
                  </m:oMath>
                </a14:m>
                <a:endParaRPr lang="en-US" sz="4000" b="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Pairwise similarities are often expensive to acquire.</a:t>
                </a:r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/>
                  <a:t>C</a:t>
                </a:r>
                <a:r>
                  <a:rPr lang="en-US" sz="4000" b="0" dirty="0" smtClean="0"/>
                  <a:t>ommon to impute 0 for missing similarities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40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4000" b="0" dirty="0" smtClean="0"/>
                  <a:t>, but performance can be poor if missing at random.</a:t>
                </a:r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Want to do better by actively choosing </a:t>
                </a:r>
                <a:r>
                  <a:rPr lang="en-US" sz="4000" dirty="0"/>
                  <a:t>s</a:t>
                </a:r>
                <a:r>
                  <a:rPr lang="en-US" sz="4000" dirty="0" smtClean="0"/>
                  <a:t>ubset of similarities.</a:t>
                </a:r>
              </a:p>
              <a:p>
                <a:pPr algn="just"/>
                <a:endParaRPr lang="en-US" sz="4000" b="0" dirty="0"/>
              </a:p>
              <a:p>
                <a:r>
                  <a:rPr lang="en-US" sz="5000" b="1" dirty="0" smtClean="0"/>
                  <a:t>Cluster Uncertainty</a:t>
                </a:r>
              </a:p>
              <a:p>
                <a:endParaRPr lang="en-US" sz="2000" b="0" dirty="0"/>
              </a:p>
              <a:p>
                <a:pPr algn="just"/>
                <a:r>
                  <a:rPr lang="en-US" sz="4000" dirty="0" smtClean="0"/>
                  <a:t>For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4000" b="0" dirty="0" smtClean="0"/>
                  <a:t> if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4000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sz="4000" b="0" i="1" smtClean="0">
                        <a:latin typeface="Cambria Math"/>
                        <a:ea typeface="Cambria Math"/>
                      </a:rPr>
                      <m:t>, </m:t>
                    </m:r>
                    <m:sSub>
                      <m:sSubPr>
                        <m:ctrlPr>
                          <a:rPr lang="en-US" sz="4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/>
                            <a:ea typeface="Cambria Math"/>
                          </a:rPr>
                          <m:t>𝑤</m:t>
                        </m:r>
                      </m:e>
                      <m:sub>
                        <m:r>
                          <a:rPr lang="en-US" sz="4000" b="0" i="1" smtClean="0">
                            <a:latin typeface="Cambria Math"/>
                            <a:ea typeface="Cambria Math"/>
                          </a:rPr>
                          <m:t>𝑖𝑗</m:t>
                        </m:r>
                      </m:sub>
                    </m:sSub>
                    <m:r>
                      <a:rPr lang="en-US" sz="4000" b="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en-US" sz="40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4000" b="0" i="1" smtClean="0">
                        <a:latin typeface="Cambria Math"/>
                        <a:ea typeface="Cambria Math"/>
                      </a:rPr>
                      <m:t>&gt;</m:t>
                    </m:r>
                    <m:sSub>
                      <m:sSubPr>
                        <m:ctrlPr>
                          <a:rPr lang="en-US" sz="4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e>
                      <m:sub>
                        <m:r>
                          <a:rPr lang="en-US" sz="40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000" b="0" dirty="0" smtClean="0"/>
                  <a:t> we have</a:t>
                </a:r>
                <a14:m>
                  <m:oMath xmlns:m="http://schemas.openxmlformats.org/officeDocument/2006/math">
                    <m:r>
                      <a:rPr lang="en-US" sz="4000" b="0" i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4000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4000" b="0" i="1" smtClean="0">
                        <a:latin typeface="Cambria Math"/>
                        <a:ea typeface="Cambria Math"/>
                      </a:rPr>
                      <m:t>≈</m:t>
                    </m:r>
                    <m:box>
                      <m:boxPr>
                        <m:ctrlPr>
                          <a:rPr lang="en-US" sz="4000" b="0" i="1" smtClean="0">
                            <a:latin typeface="Cambria Math"/>
                            <a:ea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4000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sz="40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en-US" sz="4000" b="0" i="1" smtClean="0">
                                    <a:latin typeface="Cambria Math"/>
                                    <a:ea typeface="Cambria Math"/>
                                  </a:rPr>
                                  <m:t>𝑗</m:t>
                                </m:r>
                                <m:r>
                                  <a:rPr lang="en-US" sz="4000" b="0" i="1" smtClean="0">
                                    <a:latin typeface="Cambria Math"/>
                                    <a:ea typeface="Cambria Math"/>
                                  </a:rPr>
                                  <m:t>≠</m:t>
                                </m:r>
                                <m:r>
                                  <a:rPr lang="en-US" sz="4000" b="0" i="1" smtClean="0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sz="4000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  <a:ea typeface="Cambria Math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latin typeface="Cambria Math"/>
                                        <a:ea typeface="Cambria Math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4000" b="0" i="1" smtClean="0">
                                    <a:latin typeface="Cambria Math"/>
                                    <a:ea typeface="Cambria Math"/>
                                  </a:rPr>
                                  <m:t>(</m:t>
                                </m:r>
                                <m:r>
                                  <a:rPr lang="en-US" sz="4000" b="0" i="1" smtClean="0">
                                    <a:latin typeface="Cambria Math"/>
                                    <a:ea typeface="Cambria Math"/>
                                  </a:rPr>
                                  <m:t>𝑗</m:t>
                                </m:r>
                                <m:r>
                                  <a:rPr lang="en-US" sz="4000" b="0" i="1" smtClean="0">
                                    <a:latin typeface="Cambria Math"/>
                                    <a:ea typeface="Cambria Math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r>
                              <a:rPr lang="en-US" sz="40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  <m:r>
                              <a:rPr lang="en-US" sz="4000" b="0" i="1" smtClean="0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den>
                        </m:f>
                      </m:e>
                    </m:box>
                    <m:r>
                      <a:rPr lang="en-US" sz="4000" b="0" i="1" smtClean="0">
                        <a:latin typeface="Cambria Math"/>
                        <a:ea typeface="Cambria Math"/>
                      </a:rPr>
                      <m:t>≈0</m:t>
                    </m:r>
                  </m:oMath>
                </a14:m>
                <a:r>
                  <a:rPr lang="en-US" sz="4000" b="0" dirty="0" smtClean="0">
                    <a:ea typeface="Cambria Math"/>
                  </a:rPr>
                  <a:t>. </a:t>
                </a:r>
                <a:endParaRPr lang="en-US" sz="4000" dirty="0">
                  <a:ea typeface="Cambria Math"/>
                </a:endParaRPr>
              </a:p>
              <a:p>
                <a:pPr algn="just"/>
                <a:r>
                  <a:rPr lang="en-US" sz="4000" b="0" dirty="0" smtClean="0"/>
                  <a:t>Points that are sufficiently similar to all other points tend to lie near threshold. Clustering is most “uncertain” about points near threshold. </a:t>
                </a:r>
              </a:p>
              <a:p>
                <a:endParaRPr lang="en-US" sz="4000" dirty="0"/>
              </a:p>
              <a:p>
                <a:r>
                  <a:rPr lang="en-US" sz="5000" b="1" dirty="0" smtClean="0"/>
                  <a:t>Algorithm Sketch</a:t>
                </a:r>
              </a:p>
              <a:p>
                <a:endParaRPr lang="en-US" sz="2000" b="1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Try to push embedded clusters apart: Incrementally measure similarities so few points lie near threshold. </a:t>
                </a:r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b="0" dirty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b="0" dirty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b="0" dirty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b="0" dirty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b="0" dirty="0"/>
              </a:p>
              <a:p>
                <a:pPr marL="571500" indent="-571500" algn="just">
                  <a:buFont typeface="Arial" pitchFamily="34" charset="0"/>
                  <a:buChar char="•"/>
                </a:pPr>
                <a:endParaRPr lang="en-US" sz="4000" b="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Embedding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40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4000" b="0" dirty="0" smtClean="0"/>
                  <a:t> is an eigenvector of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</a:rPr>
                      <m:t>𝐿</m:t>
                    </m:r>
                  </m:oMath>
                </a14:m>
                <a:r>
                  <a:rPr lang="en-US" sz="4000" b="0" dirty="0" smtClean="0"/>
                  <a:t>.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4000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000" b="0" i="0" smtClean="0">
                                        <a:latin typeface="Cambria Math"/>
                                      </a:rPr>
                                      <m:t>min</m:t>
                                    </m:r>
                                  </m:sub>
                                </m:sSub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</m:e>
                    </m:d>
                  </m:oMath>
                </a14:m>
                <a:r>
                  <a:rPr lang="en-US" sz="4000" b="0" dirty="0" smtClean="0"/>
                  <a:t> can be computed using matrix perturbation theory.</a:t>
                </a:r>
              </a:p>
              <a:p>
                <a:pPr marL="571500" indent="-571500">
                  <a:buFont typeface="Arial" pitchFamily="34" charset="0"/>
                  <a:buChar char="•"/>
                </a:pPr>
                <a:r>
                  <a:rPr lang="en-US" sz="4000" dirty="0" smtClean="0"/>
                  <a:t>If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</a:rPr>
                      <m:t>𝐿</m:t>
                    </m:r>
                    <m:r>
                      <a:rPr lang="en-US" sz="4000" b="0" i="1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sz="40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4000" b="0" i="1" smtClean="0">
                            <a:latin typeface="Cambria Math"/>
                          </a:rPr>
                          <m:t>𝑝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4000" b="0" i="1" smtClean="0">
                                <a:latin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4000" b="0" i="1" smtClean="0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40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4000" b="0" dirty="0" smtClean="0"/>
                  <a:t>, with </a:t>
                </a:r>
                <a14:m>
                  <m:oMath xmlns:m="http://schemas.openxmlformats.org/officeDocument/2006/math">
                    <m:r>
                      <a:rPr lang="en-US" sz="4000" b="0" i="0" smtClean="0">
                        <a:latin typeface="Cambria Math"/>
                      </a:rPr>
                      <m:t>0</m:t>
                    </m:r>
                    <m:r>
                      <a:rPr lang="en-US" sz="4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4000" b="0" i="1" smtClean="0"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US" sz="4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000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/>
                            <a:ea typeface="Cambria Math"/>
                          </a:rPr>
                          <m:t>⋯≤</m:t>
                        </m:r>
                        <m:r>
                          <m:rPr>
                            <m:sty m:val="p"/>
                          </m:rPr>
                          <a:rPr lang="el-GR" sz="4000" b="0" i="1" smtClean="0">
                            <a:latin typeface="Cambria Math"/>
                          </a:rPr>
                          <m:t>λ</m:t>
                        </m:r>
                      </m:e>
                      <m:sub>
                        <m:r>
                          <a:rPr lang="en-US" sz="40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4000" b="0" dirty="0" smtClean="0"/>
                  <a:t>, then </a:t>
                </a:r>
              </a:p>
              <a:p>
                <a:endParaRPr lang="en-US" sz="2000" b="0" dirty="0" smtClean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en-US" sz="4000" b="0" i="1" smtClean="0">
                                  <a:latin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4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4000" b="0" i="0" smtClean="0">
                                          <a:latin typeface="Cambria Math"/>
                                        </a:rPr>
                                        <m:t>min</m:t>
                                      </m:r>
                                    </m:sub>
                                  </m:sSub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box>
                        </m:e>
                      </m:d>
                      <m:r>
                        <a:rPr lang="en-US" sz="40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40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4000" b="0" i="1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sz="4000" b="0" i="1" smtClean="0">
                                  <a:latin typeface="Cambria Math"/>
                                </a:rPr>
                                <m:t>&gt;2</m:t>
                              </m:r>
                            </m:sub>
                            <m:sup>
                              <m:r>
                                <a:rPr lang="en-US" sz="40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box>
                                <m:boxPr>
                                  <m:ctrlPr>
                                    <a:rPr lang="en-US" sz="4000" b="0" i="1" smtClean="0">
                                      <a:latin typeface="Cambria Math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sz="4000" b="0" i="1" smtClean="0"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4000" b="0" i="1" smtClean="0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40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4000" b="0" i="1" smtClean="0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4000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US" sz="4000" b="0" i="1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40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US" sz="40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𝐿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40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4000" b="0" i="1" smtClean="0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4000" b="0" i="1" smtClean="0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4000" b="0" i="1" smtClean="0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sz="40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4000" b="0" i="1" smtClean="0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4000" b="0" i="1" smtClean="0">
                                              <a:latin typeface="Cambria Math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40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b="0" i="1" smtClean="0">
                                              <a:latin typeface="Cambria Math"/>
                                            </a:rPr>
                                            <m:t>λ</m:t>
                                          </m:r>
                                        </m:e>
                                        <m:sub>
                                          <m:r>
                                            <a:rPr lang="en-US" sz="40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− </m:t>
                                      </m:r>
                                      <m:sSub>
                                        <m:sSubPr>
                                          <m:ctrlPr>
                                            <a:rPr lang="en-US" sz="40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4000" b="0" i="1" smtClean="0">
                                              <a:latin typeface="Cambria Math"/>
                                            </a:rPr>
                                            <m:t>λ</m:t>
                                          </m:r>
                                        </m:e>
                                        <m:sub>
                                          <m:r>
                                            <a:rPr lang="en-US" sz="4000" b="0" i="1" smtClean="0">
                                              <a:latin typeface="Cambria Math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4000" b="0" i="0" smtClean="0">
                                          <a:latin typeface="Cambria Math"/>
                                        </a:rPr>
                                        <m:t>min</m:t>
                                      </m:r>
                                    </m:sub>
                                  </m:sSub>
                                  <m:r>
                                    <a:rPr lang="en-US" sz="4000" b="0" i="0" smtClean="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box>
                            </m:e>
                          </m:nary>
                        </m:e>
                      </m:d>
                      <m:r>
                        <a:rPr lang="en-US" sz="4000" b="0" i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sz="4000" b="0" dirty="0" smtClean="0"/>
              </a:p>
              <a:p>
                <a:pPr lvl="1"/>
                <a:endParaRPr lang="en-US" sz="2000" b="0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Exploits emerging structure in a partial clustering as a guide to active learning. </a:t>
                </a:r>
                <a:r>
                  <a:rPr lang="en-US" sz="4000" b="0" dirty="0" smtClean="0"/>
                  <a:t>Works well if dataset actually clusters.</a:t>
                </a:r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Shamir and </a:t>
                </a:r>
                <a:r>
                  <a:rPr lang="en-US" sz="4000" dirty="0" err="1" smtClean="0"/>
                  <a:t>Tishby</a:t>
                </a:r>
                <a:r>
                  <a:rPr lang="en-US" sz="4000" dirty="0" smtClean="0"/>
                  <a:t> do not assume dataset clusters and do not exploit emerging structure as a guide.</a:t>
                </a:r>
                <a:endParaRPr lang="en-US" sz="4000" b="0" dirty="0" smtClean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714050"/>
                <a:ext cx="12789694" cy="37645690"/>
              </a:xfrm>
              <a:prstGeom prst="rect">
                <a:avLst/>
              </a:prstGeom>
              <a:blipFill rotWithShape="1">
                <a:blip r:embed="rId6"/>
                <a:stretch>
                  <a:fillRect l="-2188" r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4530386" y="27291793"/>
                <a:ext cx="13274677" cy="10111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0" b="1" dirty="0" smtClean="0"/>
                  <a:t>Noisy Similarities</a:t>
                </a:r>
              </a:p>
              <a:p>
                <a:endParaRPr lang="en-US" sz="2000" b="1" dirty="0" smtClean="0"/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Similarities are often noisy. E.g. Mechanical Turk, biological experiments, etc.</a:t>
                </a:r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Can reduce noise by computing median. Expensive!</a:t>
                </a:r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Gradient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4000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000" b="0" i="0" smtClean="0">
                                        <a:latin typeface="Cambria Math"/>
                                      </a:rPr>
                                      <m:t>min</m:t>
                                    </m:r>
                                  </m:sub>
                                </m:sSub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</m:e>
                    </m:d>
                  </m:oMath>
                </a14:m>
                <a:r>
                  <a:rPr lang="en-US" sz="4000" dirty="0" smtClean="0"/>
                  <a:t> gives noise sensitivity of embedding. Tells us which similarities need to be known accurately.</a:t>
                </a:r>
              </a:p>
              <a:p>
                <a:pPr marL="571500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Augment algorithm:</a:t>
                </a:r>
              </a:p>
              <a:p>
                <a:pPr marL="1028700" lvl="1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Maintain running median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40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4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4000" dirty="0" smtClean="0"/>
                  <a:t>of each similarity using repeat measurements.</a:t>
                </a:r>
              </a:p>
              <a:p>
                <a:pPr marL="1028700" lvl="1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Estimate associated 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4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σ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4000" dirty="0" smtClean="0"/>
                  <a:t>.</a:t>
                </a:r>
              </a:p>
              <a:p>
                <a:pPr marL="1028700" lvl="1" indent="-571500" algn="just">
                  <a:buFont typeface="Arial" pitchFamily="34" charset="0"/>
                  <a:buChar char="•"/>
                </a:pPr>
                <a:r>
                  <a:rPr lang="en-US" sz="4000" dirty="0" smtClean="0"/>
                  <a:t>Measure similarity that is most uncertain </a:t>
                </a:r>
                <a:r>
                  <a:rPr lang="en-US" sz="4000" i="1" dirty="0" smtClean="0"/>
                  <a:t>and</a:t>
                </a:r>
                <a:r>
                  <a:rPr lang="en-US" sz="4000" dirty="0" smtClean="0"/>
                  <a:t> would most change the embedding, if it were perturbed:</a:t>
                </a:r>
              </a:p>
              <a:p>
                <a:pPr marL="1028700" lvl="1" indent="-571500" algn="just">
                  <a:buFont typeface="Arial" pitchFamily="34" charset="0"/>
                  <a:buChar char="•"/>
                </a:pPr>
                <a:endParaRPr lang="en-US" sz="2000" dirty="0" smtClean="0"/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4000" b="0" i="1" smtClean="0">
                              <a:latin typeface="Cambria Math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4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4000" b="0" i="1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/>
                            </a:rPr>
                            <m:t>argmax</m:t>
                          </m:r>
                        </m:e>
                        <m:sub>
                          <m:d>
                            <m:dPr>
                              <m:ctrlPr>
                                <a:rPr lang="en-US" sz="4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4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4000" b="0" i="1" smtClean="0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40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 b="0" i="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ij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4000" b="0" i="1" smtClean="0">
                              <a:latin typeface="Cambria Math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en-US" sz="4000" b="0" i="1" smtClean="0">
                                  <a:latin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4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4000" b="0" i="0" smtClean="0">
                                          <a:latin typeface="Cambria Math"/>
                                        </a:rPr>
                                        <m:t>min</m:t>
                                      </m:r>
                                    </m:sub>
                                  </m:sSub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4000" b="0" i="1" smtClean="0">
                                      <a:latin typeface="Cambria Math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4000" b="0" i="1" smtClean="0">
                                          <a:latin typeface="Cambria Math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box>
                        </m:e>
                      </m:d>
                      <m:r>
                        <a:rPr lang="en-US" sz="4000" b="0" i="0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sz="4000" b="0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0386" y="27291793"/>
                <a:ext cx="13274677" cy="10111294"/>
              </a:xfrm>
              <a:prstGeom prst="rect">
                <a:avLst/>
              </a:prstGeom>
              <a:blipFill rotWithShape="1">
                <a:blip r:embed="rId7"/>
                <a:stretch>
                  <a:fillRect l="-2205" t="-1447" r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1900" y="25485218"/>
            <a:ext cx="12302828" cy="1806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11336" y="42653240"/>
            <a:ext cx="1316989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 smtClean="0"/>
              <a:t>References</a:t>
            </a:r>
          </a:p>
          <a:p>
            <a:endParaRPr lang="en-US" sz="2000" b="1" dirty="0" smtClean="0"/>
          </a:p>
          <a:p>
            <a:r>
              <a:rPr lang="en-US" sz="4000" dirty="0" smtClean="0"/>
              <a:t>[1] 	U. von </a:t>
            </a:r>
            <a:r>
              <a:rPr lang="en-US" sz="4000" dirty="0" err="1" smtClean="0"/>
              <a:t>Luxburg</a:t>
            </a:r>
            <a:r>
              <a:rPr lang="en-US" sz="4000" dirty="0" smtClean="0"/>
              <a:t>. A Tutorial on Spectral Clustering. 	St</a:t>
            </a:r>
            <a:r>
              <a:rPr lang="en-US" sz="4000" i="1" dirty="0" smtClean="0"/>
              <a:t>atistics and Computing</a:t>
            </a:r>
            <a:r>
              <a:rPr lang="en-US" sz="4000" dirty="0" smtClean="0"/>
              <a:t>, 17:395-416, 2007.</a:t>
            </a:r>
          </a:p>
          <a:p>
            <a:r>
              <a:rPr lang="en-US" sz="4000" dirty="0" smtClean="0"/>
              <a:t>[2] 	G.W. Stewart and J Sun. </a:t>
            </a:r>
            <a:r>
              <a:rPr lang="en-US" sz="4000" i="1" dirty="0" smtClean="0"/>
              <a:t>Matrix Perturbation Theory. 	</a:t>
            </a:r>
            <a:r>
              <a:rPr lang="en-US" sz="4000" dirty="0" smtClean="0"/>
              <a:t>Computer Science and Scientific Computing. 	Academic Press, 1990.</a:t>
            </a:r>
          </a:p>
          <a:p>
            <a:r>
              <a:rPr lang="en-US" sz="4000" dirty="0" smtClean="0"/>
              <a:t>[3] 	O. Shamir and N. </a:t>
            </a:r>
            <a:r>
              <a:rPr lang="en-US" sz="4000" dirty="0" err="1" smtClean="0"/>
              <a:t>Tishby</a:t>
            </a:r>
            <a:r>
              <a:rPr lang="en-US" sz="4000" dirty="0"/>
              <a:t>.</a:t>
            </a:r>
            <a:r>
              <a:rPr lang="en-US" sz="4000" dirty="0" smtClean="0"/>
              <a:t> Spectral Clustering on a 	Budget. </a:t>
            </a:r>
            <a:r>
              <a:rPr lang="en-US" sz="4000" i="1" dirty="0" smtClean="0"/>
              <a:t>Proceedings of the International Conference 	on Artificial Intelligence and Statistics, </a:t>
            </a:r>
            <a:r>
              <a:rPr lang="en-US" sz="4000" dirty="0" smtClean="0"/>
              <a:t>2011.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 flipH="1">
                <a:off x="838200" y="35060136"/>
                <a:ext cx="12789694" cy="5546327"/>
              </a:xfrm>
              <a:prstGeom prst="rect">
                <a:avLst/>
              </a:prstGeom>
              <a:ln w="57150"/>
              <a:effectLst>
                <a:softEdge rad="12700"/>
              </a:effectLst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4000" b="1" dirty="0" smtClean="0"/>
                  <a:t>Iterate</a:t>
                </a:r>
              </a:p>
              <a:p>
                <a:pPr lvl="1" algn="just"/>
                <a:r>
                  <a:rPr lang="en-US" sz="4000" b="1" dirty="0" smtClean="0"/>
                  <a:t>1)  </a:t>
                </a:r>
                <a:r>
                  <a:rPr lang="en-US" sz="4000" dirty="0" smtClean="0"/>
                  <a:t>Impute missing similarities in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</a:rPr>
                      <m:t>𝑊</m:t>
                    </m:r>
                  </m:oMath>
                </a14:m>
                <a:r>
                  <a:rPr lang="en-US" sz="4000" dirty="0" smtClean="0"/>
                  <a:t> by 0; solve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4000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4000" b="0" i="1" smtClean="0">
                        <a:latin typeface="Cambria Math"/>
                      </a:rPr>
                      <m:t>.</m:t>
                    </m:r>
                  </m:oMath>
                </a14:m>
                <a:endParaRPr lang="en-US" sz="4000" dirty="0" smtClean="0"/>
              </a:p>
              <a:p>
                <a:pPr lvl="1" algn="just"/>
                <a:r>
                  <a:rPr lang="en-US" sz="4000" b="1" dirty="0" smtClean="0"/>
                  <a:t>2) </a:t>
                </a:r>
                <a:r>
                  <a:rPr lang="en-US" sz="40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/>
                          </a:rPr>
                          <m:t>min</m:t>
                        </m:r>
                      </m:sub>
                    </m:sSub>
                    <m:r>
                      <a:rPr lang="en-US" sz="40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4000" b="0" i="0" smtClean="0">
                        <a:latin typeface="Cambria Math"/>
                      </a:rPr>
                      <m:t>argmi</m:t>
                    </m:r>
                    <m:sSub>
                      <m:sSub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/>
                          </a:rPr>
                          <m:t>n</m:t>
                        </m:r>
                      </m:e>
                      <m:sub>
                        <m:r>
                          <a:rPr lang="en-US" sz="4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4000" b="0" i="1" smtClean="0">
                        <a:latin typeface="Cambria Math"/>
                      </a:rPr>
                      <m:t>|</m:t>
                    </m:r>
                    <m:sSup>
                      <m:sSup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4000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4000" b="0" i="1" smtClean="0">
                        <a:latin typeface="Cambria Math"/>
                      </a:rPr>
                      <m:t>|</m:t>
                    </m:r>
                  </m:oMath>
                </a14:m>
                <a:r>
                  <a:rPr lang="en-US" sz="4000" dirty="0" smtClean="0"/>
                  <a:t>, and find the similarity that would most change the embedding near the threshold, if it were perturbed:</a:t>
                </a:r>
              </a:p>
              <a:p>
                <a:pPr lvl="1" algn="just"/>
                <a:endParaRPr lang="en-US" sz="2000" b="0" i="1" dirty="0" smtClean="0">
                  <a:latin typeface="Cambria Math"/>
                </a:endParaRPr>
              </a:p>
              <a:p>
                <a:pPr lvl="1" algn="just"/>
                <a:r>
                  <a:rPr lang="en-US" sz="4000" b="0" dirty="0" smtClean="0"/>
                  <a:t>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sz="4000" b="0" i="1" smtClean="0">
                            <a:latin typeface="Cambria Math"/>
                          </a:rPr>
                          <m:t>, </m:t>
                        </m:r>
                        <m:sSup>
                          <m:sSup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4000" b="0" i="1" smtClean="0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/>
                          </a:rPr>
                          <m:t>argmax</m:t>
                        </m:r>
                      </m:e>
                      <m:sub>
                        <m:d>
                          <m:d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40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40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en-US" sz="4000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/>
                            <a:ea typeface="Cambria Math"/>
                          </a:rPr>
                          <m:t>Unobserved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4000" b="0" i="1" smtClean="0">
                            <a:latin typeface="Cambria Math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4000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000" b="0" i="0" smtClean="0">
                                        <a:latin typeface="Cambria Math"/>
                                      </a:rPr>
                                      <m:t>min</m:t>
                                    </m:r>
                                  </m:sub>
                                </m:sSub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latin typeface="Cambria Math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sz="4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i="1" smtClean="0"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</m:e>
                    </m:d>
                  </m:oMath>
                </a14:m>
                <a:r>
                  <a:rPr lang="en-US" sz="4000" dirty="0" smtClean="0"/>
                  <a:t>.</a:t>
                </a:r>
              </a:p>
              <a:p>
                <a:pPr lvl="1" algn="just"/>
                <a:endParaRPr lang="en-US" sz="2000" b="0" dirty="0" smtClean="0"/>
              </a:p>
              <a:p>
                <a:pPr lvl="1"/>
                <a:r>
                  <a:rPr lang="en-US" sz="4000" b="1" dirty="0" smtClean="0"/>
                  <a:t>3) </a:t>
                </a:r>
                <a:r>
                  <a:rPr lang="en-US" sz="4000" b="0" dirty="0" smtClean="0"/>
                  <a:t>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sSup>
                          <m:sSup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en-US" sz="4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/>
                              </a:rPr>
                              <m:t>𝑗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4000" b="0" dirty="0" smtClean="0"/>
                  <a:t> and add it to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/>
                      </a:rPr>
                      <m:t>𝑊</m:t>
                    </m:r>
                  </m:oMath>
                </a14:m>
                <a:r>
                  <a:rPr lang="en-US" sz="4000" b="0" dirty="0" smtClean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8200" y="35060136"/>
                <a:ext cx="12789694" cy="5546327"/>
              </a:xfrm>
              <a:prstGeom prst="rect">
                <a:avLst/>
              </a:prstGeom>
              <a:blipFill rotWithShape="1">
                <a:blip r:embed="rId9"/>
                <a:stretch>
                  <a:fillRect l="-1519" t="-1523" r="-1424" b="-2176"/>
                </a:stretch>
              </a:blipFill>
              <a:ln w="57150"/>
              <a:effectLst>
                <a:softEdge rad="1270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3149" y="20889913"/>
            <a:ext cx="13591580" cy="439261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3148" y="38129569"/>
            <a:ext cx="13591580" cy="43910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5201" y="12997880"/>
            <a:ext cx="3048000" cy="2286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8200" y="11650662"/>
            <a:ext cx="12789694" cy="6709529"/>
          </a:xfrm>
          <a:prstGeom prst="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5000" b="1" dirty="0" smtClean="0"/>
              <a:t>One Minute Summary</a:t>
            </a:r>
          </a:p>
          <a:p>
            <a:endParaRPr lang="en-US" sz="2000" b="1" dirty="0" smtClean="0"/>
          </a:p>
          <a:p>
            <a:pPr algn="just"/>
            <a:r>
              <a:rPr lang="en-US" sz="4000" dirty="0" smtClean="0"/>
              <a:t>Spectral clustering assumes </a:t>
            </a:r>
            <a:r>
              <a:rPr lang="en-US" sz="4000" i="1" dirty="0" smtClean="0"/>
              <a:t>all</a:t>
            </a:r>
            <a:r>
              <a:rPr lang="en-US" sz="4000" dirty="0" smtClean="0"/>
              <a:t> pairwise similarities are known </a:t>
            </a:r>
            <a:r>
              <a:rPr lang="en-US" sz="4000" i="1" dirty="0" smtClean="0"/>
              <a:t>exactly</a:t>
            </a:r>
            <a:r>
              <a:rPr lang="en-US" sz="4000" dirty="0" smtClean="0"/>
              <a:t>. This can render it unsuitable when similarities are expensive or noisy. We propose an iterative algorithm that uses intermediate </a:t>
            </a:r>
            <a:r>
              <a:rPr lang="en-US" sz="4000" dirty="0" err="1" smtClean="0"/>
              <a:t>clusterings</a:t>
            </a:r>
            <a:r>
              <a:rPr lang="en-US" sz="4000" dirty="0" smtClean="0"/>
              <a:t> to choose which similarity to measure next in order to  remove clustering uncertainty. Our method relies on matrix perturbation theory and outperforms a related algorithm by Shamir and </a:t>
            </a:r>
            <a:r>
              <a:rPr lang="en-US" sz="4000" dirty="0" err="1" smtClean="0"/>
              <a:t>Tishby</a:t>
            </a:r>
            <a:r>
              <a:rPr lang="en-US" sz="4000" dirty="0" smtClean="0"/>
              <a:t>. An extension to noisy measurements is straightforward.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005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8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005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87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新細明體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889</Words>
  <Application>Microsoft Office PowerPoint</Application>
  <PresentationFormat>Custom</PresentationFormat>
  <Paragraphs>99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預設簡報設計</vt:lpstr>
      <vt:lpstr>Active Spectral Clustering via  Iterative Uncertainty Reduction</vt:lpstr>
    </vt:vector>
  </TitlesOfParts>
  <Company>cintec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 Paper  Name  ( Font  :  Arial Bold , Font Size: 80pt ,  Color Red , Align Left ..............................................)]</dc:title>
  <dc:creator>yslaw</dc:creator>
  <cp:lastModifiedBy>Fabian Wauthier</cp:lastModifiedBy>
  <cp:revision>85</cp:revision>
  <dcterms:created xsi:type="dcterms:W3CDTF">2010-12-09T14:32:08Z</dcterms:created>
  <dcterms:modified xsi:type="dcterms:W3CDTF">2012-09-12T00:46:45Z</dcterms:modified>
</cp:coreProperties>
</file>